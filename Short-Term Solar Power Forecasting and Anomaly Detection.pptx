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ExtraBold"/>
      <p:bold r:id="rId15"/>
      <p:boldItalic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Roboto Medium"/>
      <p:regular r:id="rId21"/>
      <p:bold r:id="rId22"/>
      <p:italic r:id="rId23"/>
      <p:boldItalic r:id="rId24"/>
    </p:embeddedFont>
    <p:embeddedFont>
      <p:font typeface="Roboto SemiBold"/>
      <p:regular r:id="rId25"/>
      <p:bold r:id="rId26"/>
      <p:italic r:id="rId27"/>
      <p:boldItalic r:id="rId28"/>
    </p:embeddedFont>
    <p:embeddedFont>
      <p:font typeface="Roboto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RobotoMedium-bold.fntdata"/><Relationship Id="rId21" Type="http://schemas.openxmlformats.org/officeDocument/2006/relationships/font" Target="fonts/RobotoMedium-regular.fntdata"/><Relationship Id="rId24" Type="http://schemas.openxmlformats.org/officeDocument/2006/relationships/font" Target="fonts/RobotoMedium-boldItalic.fntdata"/><Relationship Id="rId23" Type="http://schemas.openxmlformats.org/officeDocument/2006/relationships/font" Target="fonts/Robot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emiBold-bold.fntdata"/><Relationship Id="rId25" Type="http://schemas.openxmlformats.org/officeDocument/2006/relationships/font" Target="fonts/RobotoSemiBold-regular.fntdata"/><Relationship Id="rId28" Type="http://schemas.openxmlformats.org/officeDocument/2006/relationships/font" Target="fonts/RobotoSemiBold-boldItalic.fntdata"/><Relationship Id="rId27" Type="http://schemas.openxmlformats.org/officeDocument/2006/relationships/font" Target="fonts/Roboto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Light-italic.fntdata"/><Relationship Id="rId30" Type="http://schemas.openxmlformats.org/officeDocument/2006/relationships/font" Target="fonts/Roboto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ExtraBold-bold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ExtraBold-boldItalic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fde7365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fde7365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fde7365c_0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fde7365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bb3ebdd4976e688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bb3ebdd4976e68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Scaling is not strictly required, but creating a pipeline here gives the notebook better structure and makes it easy to compare future models.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9fde7365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9fde7365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515075" y="586950"/>
            <a:ext cx="8322300" cy="225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ExtraBold"/>
                <a:ea typeface="Roboto ExtraBold"/>
                <a:cs typeface="Roboto ExtraBold"/>
                <a:sym typeface="Roboto ExtraBold"/>
              </a:rPr>
              <a:t>Short-Term Solar Power Forecasting and Anomaly Detection</a:t>
            </a:r>
            <a:endParaRPr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78500" y="3748450"/>
            <a:ext cx="77856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Course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1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SCS 3253-093 — Machine Learning</a:t>
            </a:r>
            <a:endParaRPr sz="18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678500" y="2843550"/>
            <a:ext cx="77856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Group 4 </a:t>
            </a:r>
            <a:endParaRPr b="1"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Geronimo Welter Lapinig</a:t>
            </a:r>
            <a:endParaRPr sz="11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Victor Rusu</a:t>
            </a:r>
            <a:br>
              <a:rPr lang="en" sz="11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1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Sankruththian Senathirajah</a:t>
            </a:r>
            <a:endParaRPr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679200" y="4079654"/>
            <a:ext cx="778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1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Dr. Sebastian Maurice</a:t>
            </a:r>
            <a:endParaRPr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75" y="232950"/>
            <a:ext cx="1581200" cy="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492825" y="1015188"/>
            <a:ext cx="8394000" cy="61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emiBold"/>
                <a:ea typeface="Roboto SemiBold"/>
                <a:cs typeface="Roboto SemiBold"/>
                <a:sym typeface="Roboto SemiBold"/>
              </a:rPr>
              <a:t>I</a:t>
            </a:r>
            <a:r>
              <a:rPr lang="en">
                <a:latin typeface="Roboto SemiBold"/>
                <a:ea typeface="Roboto SemiBold"/>
                <a:cs typeface="Roboto SemiBold"/>
                <a:sym typeface="Roboto SemiBold"/>
              </a:rPr>
              <a:t>t’s importance…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87975" y="2571750"/>
            <a:ext cx="8603700" cy="24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turns unpredictable sunlight into something utilities and grids can actually plan around.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By anticipating fluctuations and spotting irregular behavior early, it prevents energy waste, reduces downtime, and keeps renewable systems reliable.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a world shifting toward clean energy, it’s the intelligence layer that makes solar power not just sustainable—but dependable.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2200"/>
            <a:ext cx="4342224" cy="24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249150" y="812950"/>
            <a:ext cx="86751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Roboto SemiBold"/>
                <a:ea typeface="Roboto SemiBold"/>
                <a:cs typeface="Roboto SemiBold"/>
                <a:sym typeface="Roboto SemiBold"/>
              </a:rPr>
              <a:t>Our Objective</a:t>
            </a:r>
            <a:endParaRPr sz="42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49150" y="2124025"/>
            <a:ext cx="8895000" cy="20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Develop an accurate short-term forecasting model to predict solar power output using weather and historical PVDAQ data.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Implement anomaly detection to identify irregular system behavior and potential faults in real time.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32675" y="445050"/>
            <a:ext cx="8513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Roboto SemiBold"/>
                <a:ea typeface="Roboto SemiBold"/>
                <a:cs typeface="Roboto SemiBold"/>
                <a:sym typeface="Roboto SemiBold"/>
              </a:rPr>
              <a:t>Dataset Overview</a:t>
            </a:r>
            <a:endParaRPr sz="42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32675" y="1276350"/>
            <a:ext cx="868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02124"/>
                </a:solidFill>
                <a:highlight>
                  <a:srgbClr val="FFFFFF"/>
                </a:highlight>
                <a:latin typeface="Roboto SemiBold"/>
                <a:ea typeface="Roboto SemiBold"/>
                <a:cs typeface="Roboto SemiBold"/>
                <a:sym typeface="Roboto SemiBold"/>
              </a:rPr>
              <a:t>PVDAQ-Systems-2105-and-2107</a:t>
            </a:r>
            <a:endParaRPr sz="1800">
              <a:solidFill>
                <a:srgbClr val="1C1D1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32675" y="1905000"/>
            <a:ext cx="88113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Contains time series data from </a:t>
            </a:r>
            <a:r>
              <a:rPr lang="en" sz="1800" u="sng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PVDAQ Systems 2105 and 2107</a:t>
            </a:r>
            <a:r>
              <a:rPr lang="en" sz="1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, published by the </a:t>
            </a:r>
            <a:r>
              <a:rPr lang="en" sz="1800" u="sng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Open Energy Information (OpenEI)</a:t>
            </a:r>
            <a:r>
              <a:rPr lang="en" sz="1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platform. The data includes various electrical and environmental measurements from two photovoltaic (PV) systems located in the United States.</a:t>
            </a:r>
            <a:endParaRPr sz="180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C40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It has been curated and preprocessed for use in </a:t>
            </a:r>
            <a:r>
              <a:rPr lang="en" sz="1800" u="sng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anomaly detection tasks</a:t>
            </a:r>
            <a:r>
              <a:rPr lang="en" sz="18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related to PV performance monitoring, fault detection, and forecasting. Each row represents a timestamped snapshot of system performance, including features such as power output, irradiance, temperature, and voltage.</a:t>
            </a:r>
            <a:endParaRPr sz="1800">
              <a:solidFill>
                <a:srgbClr val="1C1D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0" y="439625"/>
            <a:ext cx="9144000" cy="8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Roboto SemiBold"/>
                <a:ea typeface="Roboto SemiBold"/>
                <a:cs typeface="Roboto SemiBold"/>
                <a:sym typeface="Roboto SemiBold"/>
              </a:rPr>
              <a:t>Correlation Analysis</a:t>
            </a:r>
            <a:endParaRPr sz="4200"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77450"/>
            <a:ext cx="9143997" cy="316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-29175" y="439625"/>
            <a:ext cx="485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1500"/>
              </a:spcAft>
              <a:buNone/>
            </a:pPr>
            <a:r>
              <a:rPr lang="en" sz="1800">
                <a:highlight>
                  <a:srgbClr val="FFFFFF"/>
                </a:highlight>
                <a:latin typeface="Roboto Medium"/>
                <a:ea typeface="Roboto Medium"/>
                <a:cs typeface="Roboto Medium"/>
                <a:sym typeface="Roboto Medium"/>
              </a:rPr>
              <a:t>Structured Preprocessing and Feature Engineering</a:t>
            </a:r>
            <a:endParaRPr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0" y="1178525"/>
            <a:ext cx="34884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800" u="sng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Feature Columns by Group</a:t>
            </a:r>
            <a:endParaRPr sz="1800" u="sng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model </a:t>
            </a:r>
            <a:r>
              <a:rPr lang="en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inputs are organized</a:t>
            </a:r>
            <a:r>
              <a:rPr lang="en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into meaningful groups.</a:t>
            </a:r>
            <a:endParaRPr sz="18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makes it easier to understand what type of information is being passed into the forecasting model and why each group matters.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325" y="972650"/>
            <a:ext cx="5655675" cy="2735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117225" y="439625"/>
            <a:ext cx="37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lang="en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Why rolling features were added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17225" y="3416975"/>
            <a:ext cx="902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Rolling features are useful because solar power can change quickly with cloud cover, irradiance variation, and local weather.</a:t>
            </a:r>
            <a:endParaRPr sz="18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rolling mean captures the short-term trend, while a rolling standard deviation highlights instability or rapid change.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025" y="1040425"/>
            <a:ext cx="5673975" cy="2237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0" y="1648200"/>
            <a:ext cx="35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Preprocessing Pipeline</a:t>
            </a:r>
            <a:endParaRPr sz="3600">
              <a:solidFill>
                <a:schemeClr val="lt1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521375" y="100"/>
            <a:ext cx="56229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To ensure consistency and reproducibility in the modeling workflow, a reusable preprocessing pipeline was constructed to transform the engineered feature set into a model-ready format.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374" y="1372475"/>
            <a:ext cx="5622885" cy="3771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EA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75" y="232950"/>
            <a:ext cx="3090151" cy="6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>
            <p:ph idx="4294967295" type="ctrTitle"/>
          </p:nvPr>
        </p:nvSpPr>
        <p:spPr>
          <a:xfrm>
            <a:off x="515075" y="1379550"/>
            <a:ext cx="8628900" cy="119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latin typeface="Roboto ExtraBold"/>
                <a:ea typeface="Roboto ExtraBold"/>
                <a:cs typeface="Roboto ExtraBold"/>
                <a:sym typeface="Roboto ExtraBold"/>
              </a:rPr>
              <a:t>Thank you for your attention!</a:t>
            </a:r>
            <a:endParaRPr sz="4200"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0" y="4349325"/>
            <a:ext cx="906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You can check our work in details here:</a:t>
            </a:r>
            <a:endParaRPr sz="1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github.com/gideonsys/ML-solar-forecast</a:t>
            </a:r>
            <a:endParaRPr sz="10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