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4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4D99B-F8ED-4D9F-A022-43C1F0853B89}" type="datetimeFigureOut">
              <a:rPr lang="en-CA" smtClean="0"/>
              <a:t>2026-03-30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8E5F4-00FC-4B11-91AF-64E06545BA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473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0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7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0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4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43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79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1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3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48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747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91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56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60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73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8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5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Training and Optimizing Deep Neural Networks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D51CD-3AAF-1A26-040A-9025C1C4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315" y="6248401"/>
            <a:ext cx="3032004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6527"/>
            <a:ext cx="8229600" cy="606533"/>
          </a:xfrm>
        </p:spPr>
        <p:txBody>
          <a:bodyPr>
            <a:normAutofit/>
          </a:bodyPr>
          <a:lstStyle/>
          <a:p>
            <a:r>
              <a:rPr sz="2800" dirty="0"/>
              <a:t>Overview of Deep Neural Networks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A91ECA3-4C91-9457-041A-A7708E13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2870" y="6356349"/>
            <a:ext cx="3336335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E76CB-D043-5F3E-0465-41AE0EA9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FF500-63C1-65C8-3410-3F8CD4184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539" y="3265657"/>
            <a:ext cx="5033119" cy="28557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B35333-284E-B44D-24AB-ECF49A987B90}"/>
              </a:ext>
            </a:extLst>
          </p:cNvPr>
          <p:cNvCxnSpPr/>
          <p:nvPr/>
        </p:nvCxnSpPr>
        <p:spPr>
          <a:xfrm>
            <a:off x="457200" y="10430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F434D92-77E1-4273-6143-625B6FA98739}"/>
              </a:ext>
            </a:extLst>
          </p:cNvPr>
          <p:cNvSpPr txBox="1"/>
          <p:nvPr/>
        </p:nvSpPr>
        <p:spPr>
          <a:xfrm>
            <a:off x="406399" y="1120676"/>
            <a:ext cx="82296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</a:t>
            </a:r>
            <a:r>
              <a:rPr lang="en-CA" b="1" dirty="0"/>
              <a:t>deep neural network (DNN)</a:t>
            </a:r>
            <a:r>
              <a:rPr lang="en-CA" dirty="0"/>
              <a:t> is a machine learning model made of many simple units </a:t>
            </a:r>
          </a:p>
          <a:p>
            <a:r>
              <a:rPr lang="en-CA" dirty="0"/>
              <a:t>called </a:t>
            </a:r>
            <a:r>
              <a:rPr lang="en-CA" b="1" dirty="0"/>
              <a:t>neurons</a:t>
            </a:r>
            <a:r>
              <a:rPr lang="en-CA" dirty="0"/>
              <a:t>, arranged in </a:t>
            </a:r>
            <a:r>
              <a:rPr lang="en-CA" b="1" dirty="0"/>
              <a:t>layers</a:t>
            </a:r>
            <a:r>
              <a:rPr lang="en-CA" dirty="0"/>
              <a:t>, that learn to map inputs (like pixels, words, data) to </a:t>
            </a:r>
          </a:p>
          <a:p>
            <a:r>
              <a:rPr lang="en-CA" dirty="0"/>
              <a:t>outputs (like labels, predictions, decisions).</a:t>
            </a:r>
          </a:p>
          <a:p>
            <a:endParaRPr lang="en-CA" dirty="0"/>
          </a:p>
          <a:p>
            <a:pPr lvl="0"/>
            <a:r>
              <a:rPr lang="en-CA" b="1" dirty="0"/>
              <a:t>“Neural”</a:t>
            </a:r>
            <a:r>
              <a:rPr lang="en-CA" dirty="0"/>
              <a:t> because it’s loosely inspired by the brain.</a:t>
            </a:r>
          </a:p>
          <a:p>
            <a:pPr lvl="0"/>
            <a:r>
              <a:rPr lang="en-CA" b="1" dirty="0"/>
              <a:t>“Network”</a:t>
            </a:r>
            <a:r>
              <a:rPr lang="en-CA" dirty="0"/>
              <a:t> because neurons are connected in a graph of layers.</a:t>
            </a:r>
          </a:p>
          <a:p>
            <a:pPr lvl="0"/>
            <a:r>
              <a:rPr lang="en-CA" b="1" dirty="0"/>
              <a:t>“Deep”</a:t>
            </a:r>
            <a:r>
              <a:rPr lang="en-CA" dirty="0"/>
              <a:t> because it has </a:t>
            </a:r>
            <a:r>
              <a:rPr lang="en-CA" b="1" dirty="0"/>
              <a:t>multiple hidden layers</a:t>
            </a:r>
            <a:r>
              <a:rPr lang="en-CA" dirty="0"/>
              <a:t>, not just one.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A8CB1A5-FA33-2C90-6E16-464913AE5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1958"/>
            <a:ext cx="8229600" cy="511102"/>
          </a:xfrm>
        </p:spPr>
        <p:txBody>
          <a:bodyPr>
            <a:normAutofit/>
          </a:bodyPr>
          <a:lstStyle/>
          <a:p>
            <a:r>
              <a:rPr sz="2800" dirty="0"/>
              <a:t>Overview of Deep Neural Networks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4ACE5C1-5A9B-CEE7-B97A-9A9CF5C78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4149"/>
            <a:ext cx="8229600" cy="5743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100" dirty="0"/>
              <a:t>output=ƒ(</a:t>
            </a:r>
            <a:r>
              <a:rPr lang="en-CA" sz="2100" dirty="0" err="1"/>
              <a:t>input;parameters</a:t>
            </a:r>
            <a:r>
              <a:rPr lang="en-CA" sz="2100" dirty="0"/>
              <a:t>)</a:t>
            </a:r>
          </a:p>
          <a:p>
            <a:pPr lvl="0"/>
            <a:endParaRPr lang="en-CA" sz="1800" dirty="0"/>
          </a:p>
          <a:p>
            <a:pPr lvl="0"/>
            <a:endParaRPr lang="en-CA" sz="1800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7F9E18C-CDB9-330C-5113-629099E5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520" y="6380634"/>
            <a:ext cx="3552298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CE4FE42-182F-887D-9AD5-49C7A842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3B38FB-B41D-AE1B-4F5B-C2B7BFCEE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347" y="2215940"/>
            <a:ext cx="4684395" cy="29235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A29A01-207B-F973-727F-4072650BF185}"/>
              </a:ext>
            </a:extLst>
          </p:cNvPr>
          <p:cNvSpPr txBox="1"/>
          <p:nvPr/>
        </p:nvSpPr>
        <p:spPr>
          <a:xfrm>
            <a:off x="661676" y="1686356"/>
            <a:ext cx="8156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where the </a:t>
            </a:r>
            <a:r>
              <a:rPr lang="en-CA" b="1" dirty="0"/>
              <a:t>parameters</a:t>
            </a:r>
            <a:r>
              <a:rPr lang="en-CA" dirty="0"/>
              <a:t> are the </a:t>
            </a:r>
            <a:r>
              <a:rPr lang="en-CA" b="1" dirty="0"/>
              <a:t>weights</a:t>
            </a:r>
            <a:r>
              <a:rPr lang="en-CA" dirty="0"/>
              <a:t> and </a:t>
            </a:r>
            <a:r>
              <a:rPr lang="en-CA" b="1" dirty="0"/>
              <a:t>biases</a:t>
            </a:r>
            <a:r>
              <a:rPr lang="en-CA" dirty="0"/>
              <a:t> that the network learns from data.</a:t>
            </a:r>
          </a:p>
          <a:p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79097-F0AE-CAB1-03D9-9099A94A7BB2}"/>
              </a:ext>
            </a:extLst>
          </p:cNvPr>
          <p:cNvSpPr txBox="1"/>
          <p:nvPr/>
        </p:nvSpPr>
        <p:spPr>
          <a:xfrm>
            <a:off x="698436" y="5204589"/>
            <a:ext cx="7025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neuron computes a </a:t>
            </a:r>
            <a:r>
              <a:rPr lang="en-CA" b="1" dirty="0"/>
              <a:t>weighted sum</a:t>
            </a:r>
            <a:r>
              <a:rPr lang="en-CA" dirty="0"/>
              <a:t>: </a:t>
            </a:r>
            <a:r>
              <a:rPr lang="en-CA" b="1" dirty="0">
                <a:solidFill>
                  <a:schemeClr val="accent1"/>
                </a:solidFill>
              </a:rPr>
              <a:t>z=w</a:t>
            </a:r>
            <a:r>
              <a:rPr lang="en-CA" b="1" baseline="-25000" dirty="0">
                <a:solidFill>
                  <a:schemeClr val="accent1"/>
                </a:solidFill>
              </a:rPr>
              <a:t>1</a:t>
            </a:r>
            <a:r>
              <a:rPr lang="en-CA" b="1" dirty="0">
                <a:solidFill>
                  <a:schemeClr val="accent1"/>
                </a:solidFill>
              </a:rPr>
              <a:t>x</a:t>
            </a:r>
            <a:r>
              <a:rPr lang="en-CA" b="1" baseline="-25000" dirty="0">
                <a:solidFill>
                  <a:schemeClr val="accent1"/>
                </a:solidFill>
              </a:rPr>
              <a:t>1</a:t>
            </a:r>
            <a:r>
              <a:rPr lang="en-CA" b="1" dirty="0">
                <a:solidFill>
                  <a:schemeClr val="accent1"/>
                </a:solidFill>
              </a:rPr>
              <a:t>+w</a:t>
            </a:r>
            <a:r>
              <a:rPr lang="en-CA" b="1" baseline="-25000" dirty="0">
                <a:solidFill>
                  <a:schemeClr val="accent1"/>
                </a:solidFill>
              </a:rPr>
              <a:t>2</a:t>
            </a:r>
            <a:r>
              <a:rPr lang="en-CA" b="1" dirty="0">
                <a:solidFill>
                  <a:schemeClr val="accent1"/>
                </a:solidFill>
              </a:rPr>
              <a:t>x</a:t>
            </a:r>
            <a:r>
              <a:rPr lang="en-CA" b="1" baseline="-25000" dirty="0">
                <a:solidFill>
                  <a:schemeClr val="accent1"/>
                </a:solidFill>
              </a:rPr>
              <a:t>2</a:t>
            </a:r>
            <a:r>
              <a:rPr lang="en-CA" b="1" dirty="0">
                <a:solidFill>
                  <a:schemeClr val="accent1"/>
                </a:solidFill>
              </a:rPr>
              <a:t>+⋯+</a:t>
            </a:r>
            <a:r>
              <a:rPr lang="en-CA" b="1" dirty="0" err="1">
                <a:solidFill>
                  <a:schemeClr val="accent1"/>
                </a:solidFill>
              </a:rPr>
              <a:t>w</a:t>
            </a:r>
            <a:r>
              <a:rPr lang="en-CA" b="1" baseline="-25000" dirty="0" err="1">
                <a:solidFill>
                  <a:schemeClr val="accent1"/>
                </a:solidFill>
              </a:rPr>
              <a:t>n</a:t>
            </a:r>
            <a:r>
              <a:rPr lang="en-CA" b="1" dirty="0" err="1">
                <a:solidFill>
                  <a:schemeClr val="accent1"/>
                </a:solidFill>
              </a:rPr>
              <a:t>x</a:t>
            </a:r>
            <a:r>
              <a:rPr lang="en-CA" b="1" baseline="-25000" dirty="0" err="1">
                <a:solidFill>
                  <a:schemeClr val="accent1"/>
                </a:solidFill>
              </a:rPr>
              <a:t>n</a:t>
            </a:r>
            <a:r>
              <a:rPr lang="en-CA" b="1" dirty="0" err="1">
                <a:solidFill>
                  <a:schemeClr val="accent1"/>
                </a:solidFill>
              </a:rPr>
              <a:t>+b</a:t>
            </a:r>
            <a:endParaRPr lang="en-CA" b="1" dirty="0">
              <a:solidFill>
                <a:schemeClr val="accent1"/>
              </a:solidFill>
            </a:endParaRPr>
          </a:p>
          <a:p>
            <a:endParaRPr lang="en-CA" dirty="0">
              <a:solidFill>
                <a:schemeClr val="accent2"/>
              </a:solidFill>
            </a:endParaRPr>
          </a:p>
          <a:p>
            <a:r>
              <a:rPr lang="en-CA" dirty="0"/>
              <a:t>Then it passes z through an </a:t>
            </a:r>
            <a:r>
              <a:rPr lang="en-CA" b="1" dirty="0"/>
              <a:t>activation function</a:t>
            </a:r>
            <a:r>
              <a:rPr lang="en-CA" dirty="0"/>
              <a:t> σ(⋅): </a:t>
            </a:r>
            <a:r>
              <a:rPr lang="en-CA" b="1" dirty="0">
                <a:solidFill>
                  <a:schemeClr val="accent1"/>
                </a:solidFill>
              </a:rPr>
              <a:t>output=a=σ(z)</a:t>
            </a:r>
          </a:p>
          <a:p>
            <a:endParaRPr lang="en-CA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272344-BCED-64BD-4A11-29F553967277}"/>
              </a:ext>
            </a:extLst>
          </p:cNvPr>
          <p:cNvCxnSpPr/>
          <p:nvPr/>
        </p:nvCxnSpPr>
        <p:spPr>
          <a:xfrm>
            <a:off x="355600" y="10430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0011756-2103-470F-0DB0-C2BCE4371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Activation Functions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D031854-214B-E923-D491-15E01BCB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0015" y="6356350"/>
            <a:ext cx="3382284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8940099-29DA-00EF-B7FD-05CABCDB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3B263-88FF-3E12-D843-1D24DBFA5E91}"/>
              </a:ext>
            </a:extLst>
          </p:cNvPr>
          <p:cNvSpPr txBox="1"/>
          <p:nvPr/>
        </p:nvSpPr>
        <p:spPr>
          <a:xfrm>
            <a:off x="414305" y="969286"/>
            <a:ext cx="8580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An </a:t>
            </a:r>
            <a:r>
              <a:rPr lang="en-CA" b="1" dirty="0"/>
              <a:t>activation function</a:t>
            </a:r>
            <a:r>
              <a:rPr lang="en-CA" dirty="0"/>
              <a:t> is a mathematical function inside each neuron of a neural </a:t>
            </a:r>
          </a:p>
          <a:p>
            <a:r>
              <a:rPr lang="en-CA" dirty="0"/>
              <a:t>network that decides whether a neuron should “activate” and how strongly. </a:t>
            </a:r>
          </a:p>
          <a:p>
            <a:endParaRPr lang="en-CA" dirty="0"/>
          </a:p>
          <a:p>
            <a:r>
              <a:rPr lang="en-CA" dirty="0"/>
              <a:t>Without activation functions, a neural network would behave like a plain linear equation, </a:t>
            </a:r>
          </a:p>
          <a:p>
            <a:r>
              <a:rPr lang="en-CA" dirty="0"/>
              <a:t>no matter how many layers we add. With activation functions, the network can learn </a:t>
            </a:r>
          </a:p>
          <a:p>
            <a:r>
              <a:rPr lang="en-CA" b="1" dirty="0"/>
              <a:t>complex, nonlinear patterns</a:t>
            </a:r>
            <a:r>
              <a:rPr lang="en-CA" dirty="0"/>
              <a:t> like images, speech, and language.</a:t>
            </a:r>
          </a:p>
          <a:p>
            <a:endParaRPr lang="en-CA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208BE5-2C50-09CA-DA78-BB7D86BD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773751"/>
              </p:ext>
            </p:extLst>
          </p:nvPr>
        </p:nvGraphicFramePr>
        <p:xfrm>
          <a:off x="542208" y="2858074"/>
          <a:ext cx="8018230" cy="33588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0808">
                  <a:extLst>
                    <a:ext uri="{9D8B030D-6E8A-4147-A177-3AD203B41FA5}">
                      <a16:colId xmlns:a16="http://schemas.microsoft.com/office/drawing/2014/main" val="894280604"/>
                    </a:ext>
                  </a:extLst>
                </a:gridCol>
                <a:gridCol w="2221950">
                  <a:extLst>
                    <a:ext uri="{9D8B030D-6E8A-4147-A177-3AD203B41FA5}">
                      <a16:colId xmlns:a16="http://schemas.microsoft.com/office/drawing/2014/main" val="1150046949"/>
                    </a:ext>
                  </a:extLst>
                </a:gridCol>
                <a:gridCol w="1362669">
                  <a:extLst>
                    <a:ext uri="{9D8B030D-6E8A-4147-A177-3AD203B41FA5}">
                      <a16:colId xmlns:a16="http://schemas.microsoft.com/office/drawing/2014/main" val="2966134666"/>
                    </a:ext>
                  </a:extLst>
                </a:gridCol>
                <a:gridCol w="812973">
                  <a:extLst>
                    <a:ext uri="{9D8B030D-6E8A-4147-A177-3AD203B41FA5}">
                      <a16:colId xmlns:a16="http://schemas.microsoft.com/office/drawing/2014/main" val="1743388825"/>
                    </a:ext>
                  </a:extLst>
                </a:gridCol>
                <a:gridCol w="1233178">
                  <a:extLst>
                    <a:ext uri="{9D8B030D-6E8A-4147-A177-3AD203B41FA5}">
                      <a16:colId xmlns:a16="http://schemas.microsoft.com/office/drawing/2014/main" val="3227001339"/>
                    </a:ext>
                  </a:extLst>
                </a:gridCol>
                <a:gridCol w="1326652">
                  <a:extLst>
                    <a:ext uri="{9D8B030D-6E8A-4147-A177-3AD203B41FA5}">
                      <a16:colId xmlns:a16="http://schemas.microsoft.com/office/drawing/2014/main" val="830096659"/>
                    </a:ext>
                  </a:extLst>
                </a:gridCol>
              </a:tblGrid>
              <a:tr h="348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</a:rPr>
                        <a:t>Activation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Formula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Value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Output Range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Good For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Notes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1429821"/>
                  </a:ext>
                </a:extLst>
              </a:tr>
              <a:tr h="7054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ReLU (Rectified Linear Unit)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 err="1">
                          <a:effectLst/>
                        </a:rPr>
                        <a:t>ReLU</a:t>
                      </a:r>
                      <a:r>
                        <a:rPr lang="en-CA" sz="1100" dirty="0">
                          <a:effectLst/>
                        </a:rPr>
                        <a:t>(z)=max(0,z)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900">
                          <a:effectLst/>
                        </a:rPr>
                        <a:t>If the signal is positive → pass it through</a:t>
                      </a:r>
                      <a:endParaRPr lang="en-CA" sz="11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CA" sz="900">
                          <a:effectLst/>
                        </a:rPr>
                        <a:t>if negative → output 0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0 to ∞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Hidden layers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Fast, simple, widely used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4400845"/>
                  </a:ext>
                </a:extLst>
              </a:tr>
              <a:tr h="5454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Sigmoid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900">
                          <a:effectLst/>
                        </a:rPr>
                        <a:t>Squashes values between 0 and 1</a:t>
                      </a:r>
                      <a:endParaRPr lang="en-CA" sz="11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CA" sz="900">
                          <a:effectLst/>
                        </a:rPr>
                        <a:t>Good for probabilities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0 to 1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Binary classification output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</a:rPr>
                        <a:t>Can cause vanishing gradients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0588906"/>
                  </a:ext>
                </a:extLst>
              </a:tr>
              <a:tr h="9393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Tanh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900">
                          <a:effectLst/>
                        </a:rPr>
                        <a:t>Like sigmoid, but outputs between –1 and 1</a:t>
                      </a:r>
                      <a:endParaRPr lang="en-CA" sz="1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900">
                          <a:effectLst/>
                        </a:rPr>
                        <a:t>Zero‑centered → often better than sigmoid in hidden layers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–1 to 1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Hidden layers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Zero‑centered, smoother than sigmoid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4926556"/>
                  </a:ext>
                </a:extLst>
              </a:tr>
              <a:tr h="818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Softmax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</a:rPr>
                        <a:t> 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900">
                          <a:effectLst/>
                        </a:rPr>
                        <a:t>Turns a list of numbers into a probability distribution</a:t>
                      </a:r>
                      <a:endParaRPr lang="en-CA" sz="11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CA" sz="900">
                          <a:effectLst/>
                        </a:rPr>
                        <a:t>All outputs sum to 1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0 to 1 (sum=1)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>
                          <a:effectLst/>
                        </a:rPr>
                        <a:t>Multi‑class output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dirty="0">
                          <a:effectLst/>
                        </a:rPr>
                        <a:t>Produces probabilities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9297810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782CDAA9-BFC6-7970-5894-DD449B15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25" y="3939856"/>
            <a:ext cx="1076325" cy="476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F9C3FA-5EB7-CE7A-9875-2E3A8C9F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880" y="4684611"/>
            <a:ext cx="1438275" cy="409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5AB77B2-7CCF-FB06-BAF6-3E91DC802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930" y="5548767"/>
            <a:ext cx="1419225" cy="4381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9CEC70-2C69-1B3B-62D9-7820CD6766A2}"/>
              </a:ext>
            </a:extLst>
          </p:cNvPr>
          <p:cNvCxnSpPr/>
          <p:nvPr/>
        </p:nvCxnSpPr>
        <p:spPr>
          <a:xfrm>
            <a:off x="355600" y="969286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C25C3DB-B63F-320A-F890-17DB8938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DNN Architecture - Layers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B09891F-85FC-E488-3B28-1CD1A1435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0604" y="6269045"/>
            <a:ext cx="3428999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F774A61-9C1C-6BDF-AD9A-855C9D22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0B57B-A4EA-B338-2AE1-CB137A3F497D}"/>
              </a:ext>
            </a:extLst>
          </p:cNvPr>
          <p:cNvSpPr txBox="1"/>
          <p:nvPr/>
        </p:nvSpPr>
        <p:spPr>
          <a:xfrm>
            <a:off x="374490" y="1305341"/>
            <a:ext cx="84133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 </a:t>
            </a:r>
            <a:r>
              <a:rPr lang="en-CA" b="1" dirty="0"/>
              <a:t>layer</a:t>
            </a:r>
            <a:r>
              <a:rPr lang="en-CA" dirty="0"/>
              <a:t> is a group of neurons that all look at the same input vector.</a:t>
            </a:r>
            <a:endParaRPr lang="en-CA" sz="1600" dirty="0"/>
          </a:p>
          <a:p>
            <a:pPr lvl="0"/>
            <a:endParaRPr lang="en-CA" b="1" dirty="0"/>
          </a:p>
          <a:p>
            <a:pPr lvl="0"/>
            <a:r>
              <a:rPr lang="en-CA" b="1" dirty="0"/>
              <a:t>Input layer:</a:t>
            </a:r>
            <a:endParaRPr lang="en-CA" sz="2000" dirty="0"/>
          </a:p>
          <a:p>
            <a:pPr lvl="1"/>
            <a:r>
              <a:rPr lang="en-CA" dirty="0"/>
              <a:t>Holds the raw data (e.g., pixel values, features).</a:t>
            </a:r>
            <a:endParaRPr lang="en-CA" sz="2000" dirty="0"/>
          </a:p>
          <a:p>
            <a:pPr lvl="1"/>
            <a:r>
              <a:rPr lang="en-CA" dirty="0"/>
              <a:t>Usually no computation, just the starting point.</a:t>
            </a:r>
            <a:endParaRPr lang="en-CA" sz="2000" dirty="0"/>
          </a:p>
          <a:p>
            <a:pPr lvl="0"/>
            <a:endParaRPr lang="en-CA" b="1" dirty="0"/>
          </a:p>
          <a:p>
            <a:pPr lvl="0"/>
            <a:r>
              <a:rPr lang="en-CA" b="1" dirty="0"/>
              <a:t>Hidden layers:</a:t>
            </a:r>
            <a:endParaRPr lang="en-CA" sz="2000" dirty="0"/>
          </a:p>
          <a:p>
            <a:pPr lvl="1"/>
            <a:r>
              <a:rPr lang="en-CA" dirty="0"/>
              <a:t>One or more layers between input and output.</a:t>
            </a:r>
            <a:endParaRPr lang="en-CA" sz="2000" dirty="0"/>
          </a:p>
          <a:p>
            <a:pPr lvl="1"/>
            <a:r>
              <a:rPr lang="en-CA" dirty="0"/>
              <a:t>Each hidden layer transforms the data into more abstract features.</a:t>
            </a:r>
            <a:endParaRPr lang="en-CA" sz="2000" dirty="0"/>
          </a:p>
          <a:p>
            <a:pPr lvl="0"/>
            <a:endParaRPr lang="en-CA" b="1" dirty="0"/>
          </a:p>
          <a:p>
            <a:pPr lvl="0"/>
            <a:r>
              <a:rPr lang="en-CA" b="1" dirty="0"/>
              <a:t>Output layer:</a:t>
            </a:r>
            <a:endParaRPr lang="en-CA" sz="2000" dirty="0"/>
          </a:p>
          <a:p>
            <a:pPr lvl="1"/>
            <a:r>
              <a:rPr lang="en-CA" dirty="0"/>
              <a:t>Produces the final prediction (e.g., class probabilities, a number for regression).</a:t>
            </a:r>
            <a:endParaRPr lang="en-CA" sz="2000" dirty="0"/>
          </a:p>
          <a:p>
            <a:endParaRPr lang="en-CA" dirty="0"/>
          </a:p>
          <a:p>
            <a:r>
              <a:rPr lang="en-CA" dirty="0"/>
              <a:t>A simple feedforward architecture diagram as a classic </a:t>
            </a:r>
            <a:r>
              <a:rPr lang="en-CA" b="1" dirty="0"/>
              <a:t>fully connected feedforward network</a:t>
            </a:r>
            <a:r>
              <a:rPr lang="en-CA" dirty="0"/>
              <a:t>, also called a </a:t>
            </a:r>
            <a:r>
              <a:rPr lang="en-CA" b="1" dirty="0">
                <a:solidFill>
                  <a:schemeClr val="accent1"/>
                </a:solidFill>
              </a:rPr>
              <a:t>multilayer perceptron.</a:t>
            </a:r>
            <a:endParaRPr lang="en-CA" dirty="0">
              <a:solidFill>
                <a:schemeClr val="accent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759B00-6924-0153-F77A-D70EC7EC15EC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E18F069-1749-7B80-8EC7-2FAFCBC02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400" dirty="0"/>
              <a:t>DNN Architecture – Layers - Forward pass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82B687-2F56-394B-F1A4-C95F5477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659" y="6356349"/>
            <a:ext cx="3350120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51F49F-0EFE-21FD-31FC-B5095CCC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DE1DF7-6A5A-36FB-F81F-3AE6EA7D0793}"/>
              </a:ext>
            </a:extLst>
          </p:cNvPr>
          <p:cNvGrpSpPr/>
          <p:nvPr/>
        </p:nvGrpSpPr>
        <p:grpSpPr>
          <a:xfrm>
            <a:off x="266025" y="1397500"/>
            <a:ext cx="8678576" cy="892552"/>
            <a:chOff x="291780" y="1889162"/>
            <a:chExt cx="8678576" cy="89255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235BB9-58CA-C2CA-21AC-5D27AEB15394}"/>
                </a:ext>
              </a:extLst>
            </p:cNvPr>
            <p:cNvSpPr txBox="1"/>
            <p:nvPr/>
          </p:nvSpPr>
          <p:spPr>
            <a:xfrm>
              <a:off x="291780" y="2082972"/>
              <a:ext cx="4778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X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67A396-59A9-29CD-5F65-6DB9B0BCA654}"/>
                </a:ext>
              </a:extLst>
            </p:cNvPr>
            <p:cNvSpPr txBox="1"/>
            <p:nvPr/>
          </p:nvSpPr>
          <p:spPr>
            <a:xfrm>
              <a:off x="1420610" y="1947192"/>
              <a:ext cx="12494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1</a:t>
              </a:r>
            </a:p>
            <a:p>
              <a:r>
                <a:rPr lang="en-CA" sz="2000" dirty="0"/>
                <a:t>(W</a:t>
              </a:r>
              <a:r>
                <a:rPr lang="en-CA" sz="2000" baseline="-25000" dirty="0"/>
                <a:t>1</a:t>
              </a:r>
              <a:r>
                <a:rPr lang="en-CA" sz="2000" dirty="0"/>
                <a:t>,b</a:t>
              </a:r>
              <a:r>
                <a:rPr lang="en-CA" sz="2000" baseline="-25000" dirty="0"/>
                <a:t>1</a:t>
              </a:r>
              <a:r>
                <a:rPr lang="en-CA" sz="2000" dirty="0"/>
                <a:t>,σ</a:t>
              </a:r>
              <a:r>
                <a:rPr lang="en-CA" sz="2000" baseline="-25000" dirty="0"/>
                <a:t>1</a:t>
              </a:r>
              <a:r>
                <a:rPr lang="en-CA" sz="2000" dirty="0"/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7A7BC81-2445-6061-8217-FD1DA0500E26}"/>
                </a:ext>
              </a:extLst>
            </p:cNvPr>
            <p:cNvSpPr txBox="1"/>
            <p:nvPr/>
          </p:nvSpPr>
          <p:spPr>
            <a:xfrm>
              <a:off x="3446227" y="1967157"/>
              <a:ext cx="13379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2</a:t>
              </a:r>
            </a:p>
            <a:p>
              <a:r>
                <a:rPr lang="en-CA" sz="2000" dirty="0"/>
                <a:t>(W</a:t>
              </a:r>
              <a:r>
                <a:rPr lang="en-CA" dirty="0"/>
                <a:t>2</a:t>
              </a:r>
              <a:r>
                <a:rPr lang="en-CA" sz="2000" dirty="0"/>
                <a:t>,b</a:t>
              </a:r>
              <a:r>
                <a:rPr lang="en-CA" sz="2000" baseline="-25000" dirty="0"/>
                <a:t>2</a:t>
              </a:r>
              <a:r>
                <a:rPr lang="en-CA" sz="2000" dirty="0"/>
                <a:t>,σ2)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6650C60-11EE-3756-3F30-C588081444BF}"/>
                </a:ext>
              </a:extLst>
            </p:cNvPr>
            <p:cNvSpPr txBox="1"/>
            <p:nvPr/>
          </p:nvSpPr>
          <p:spPr>
            <a:xfrm>
              <a:off x="6028990" y="1985095"/>
              <a:ext cx="124945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L</a:t>
              </a:r>
            </a:p>
            <a:p>
              <a:r>
                <a:rPr lang="en-CA" sz="2000" dirty="0"/>
                <a:t>(</a:t>
              </a:r>
              <a:r>
                <a:rPr lang="en-CA" sz="2000" dirty="0" err="1"/>
                <a:t>W</a:t>
              </a:r>
              <a:r>
                <a:rPr lang="en-CA" dirty="0" err="1"/>
                <a:t>L</a:t>
              </a:r>
              <a:r>
                <a:rPr lang="en-CA" sz="2000" dirty="0" err="1"/>
                <a:t>,b</a:t>
              </a:r>
              <a:r>
                <a:rPr lang="en-CA" sz="2000" baseline="-25000" dirty="0" err="1"/>
                <a:t>L</a:t>
              </a:r>
              <a:r>
                <a:rPr lang="en-CA" sz="2000" dirty="0" err="1"/>
                <a:t>,σ</a:t>
              </a:r>
              <a:r>
                <a:rPr lang="en-CA" sz="2000" baseline="-25000" dirty="0" err="1"/>
                <a:t>L</a:t>
              </a:r>
              <a:r>
                <a:rPr lang="en-CA" sz="2000" dirty="0"/>
                <a:t>)</a:t>
              </a: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E8DA52CF-EA08-0900-98AC-967C35E0D4C6}"/>
                </a:ext>
              </a:extLst>
            </p:cNvPr>
            <p:cNvSpPr/>
            <p:nvPr/>
          </p:nvSpPr>
          <p:spPr>
            <a:xfrm>
              <a:off x="644159" y="2155041"/>
              <a:ext cx="716815" cy="288109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C0AFB765-5EA5-4390-76D9-08F2B4B5E0B9}"/>
                </a:ext>
              </a:extLst>
            </p:cNvPr>
            <p:cNvSpPr/>
            <p:nvPr/>
          </p:nvSpPr>
          <p:spPr>
            <a:xfrm>
              <a:off x="2699736" y="2155040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70DFE9D3-1A93-F790-87DE-5C685AA9534E}"/>
                </a:ext>
              </a:extLst>
            </p:cNvPr>
            <p:cNvSpPr/>
            <p:nvPr/>
          </p:nvSpPr>
          <p:spPr>
            <a:xfrm>
              <a:off x="7261592" y="2138972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89D4D6-D7B1-5FB9-B0BB-59697743D4BF}"/>
                </a:ext>
              </a:extLst>
            </p:cNvPr>
            <p:cNvSpPr txBox="1"/>
            <p:nvPr/>
          </p:nvSpPr>
          <p:spPr>
            <a:xfrm>
              <a:off x="8055169" y="1889162"/>
              <a:ext cx="91518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000" dirty="0"/>
                <a:t>Ŷ</a:t>
              </a:r>
            </a:p>
            <a:p>
              <a:r>
                <a:rPr lang="en-CA" sz="1200" dirty="0"/>
                <a:t>(prediction)</a:t>
              </a:r>
            </a:p>
          </p:txBody>
        </p:sp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A69576C6-A74F-BCD1-34D7-1571352D7C5D}"/>
                </a:ext>
              </a:extLst>
            </p:cNvPr>
            <p:cNvSpPr/>
            <p:nvPr/>
          </p:nvSpPr>
          <p:spPr>
            <a:xfrm>
              <a:off x="4740670" y="2196769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E2932A6-154B-E948-CB2F-E4D8E765DA59}"/>
                </a:ext>
              </a:extLst>
            </p:cNvPr>
            <p:cNvSpPr txBox="1"/>
            <p:nvPr/>
          </p:nvSpPr>
          <p:spPr>
            <a:xfrm>
              <a:off x="5583309" y="2098360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...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1EB479-82A0-C79E-D8E9-C99D3019299D}"/>
              </a:ext>
            </a:extLst>
          </p:cNvPr>
          <p:cNvSpPr txBox="1"/>
          <p:nvPr/>
        </p:nvSpPr>
        <p:spPr>
          <a:xfrm>
            <a:off x="408954" y="2671407"/>
            <a:ext cx="671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accent1"/>
                </a:solidFill>
              </a:rPr>
              <a:t>Loss function </a:t>
            </a:r>
            <a:r>
              <a:rPr lang="en-CA" dirty="0"/>
              <a:t>- measure </a:t>
            </a:r>
            <a:r>
              <a:rPr lang="en-CA" b="1" dirty="0"/>
              <a:t>error</a:t>
            </a:r>
            <a:r>
              <a:rPr lang="en-CA" dirty="0"/>
              <a:t> between predictions and true labels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EC014CB-C56A-D3C0-80C8-AB873EFED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222" y="3225077"/>
            <a:ext cx="1428750" cy="5715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EEA9B4-B521-C8FC-6AF1-49C316A1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222" y="3980915"/>
            <a:ext cx="3238500" cy="6286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7DF4101-3A08-69F6-29AC-8CAD91CEC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222" y="4858265"/>
            <a:ext cx="2095500" cy="7048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08EAED3-80D5-800C-6365-04C99D4CB7A6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8E704F-E4AA-7D1E-9273-6FE5347AAA49}"/>
              </a:ext>
            </a:extLst>
          </p:cNvPr>
          <p:cNvSpPr txBox="1"/>
          <p:nvPr/>
        </p:nvSpPr>
        <p:spPr>
          <a:xfrm>
            <a:off x="408954" y="3294908"/>
            <a:ext cx="3974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Mean Squared Error (MSE) for regression</a:t>
            </a:r>
          </a:p>
          <a:p>
            <a:endParaRPr lang="en-C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608A93-A946-385A-8D1F-AEC4310FDD8C}"/>
              </a:ext>
            </a:extLst>
          </p:cNvPr>
          <p:cNvSpPr txBox="1"/>
          <p:nvPr/>
        </p:nvSpPr>
        <p:spPr>
          <a:xfrm>
            <a:off x="476053" y="4111654"/>
            <a:ext cx="4531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Cross-Entropy Loss for classification binary</a:t>
            </a:r>
          </a:p>
          <a:p>
            <a:endParaRPr lang="en-C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6D3EDD-D2E1-8EE2-A4D6-43A7DE81D7E1}"/>
              </a:ext>
            </a:extLst>
          </p:cNvPr>
          <p:cNvSpPr txBox="1"/>
          <p:nvPr/>
        </p:nvSpPr>
        <p:spPr>
          <a:xfrm>
            <a:off x="374490" y="5079304"/>
            <a:ext cx="4295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Cross-Entropy Loss for classification multiclass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121FF00-9581-6E8E-0488-02B15FBCE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400" dirty="0"/>
              <a:t>DNN Architecture – Layers – Back propagation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749368C1-D4BE-4EE2-6985-74DA25AB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090" y="6309621"/>
            <a:ext cx="3373094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A5BB4A05-FB0B-6183-AC13-9B42F56C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DE4935-12DC-A005-2F4D-7A80B017ECD2}"/>
              </a:ext>
            </a:extLst>
          </p:cNvPr>
          <p:cNvGrpSpPr/>
          <p:nvPr/>
        </p:nvGrpSpPr>
        <p:grpSpPr>
          <a:xfrm>
            <a:off x="275770" y="2085562"/>
            <a:ext cx="6872710" cy="707886"/>
            <a:chOff x="291780" y="1911719"/>
            <a:chExt cx="6872710" cy="70788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114EA5-93EF-F6B2-6C25-7575B005AEFD}"/>
                </a:ext>
              </a:extLst>
            </p:cNvPr>
            <p:cNvSpPr txBox="1"/>
            <p:nvPr/>
          </p:nvSpPr>
          <p:spPr>
            <a:xfrm>
              <a:off x="291780" y="2082972"/>
              <a:ext cx="4778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X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4087DF5-D140-EDC0-D9EA-1B9C21B6E15A}"/>
                </a:ext>
              </a:extLst>
            </p:cNvPr>
            <p:cNvSpPr txBox="1"/>
            <p:nvPr/>
          </p:nvSpPr>
          <p:spPr>
            <a:xfrm>
              <a:off x="1223150" y="2113080"/>
              <a:ext cx="1249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37AA77-B58C-CF5B-A035-C79A78B77C24}"/>
                </a:ext>
              </a:extLst>
            </p:cNvPr>
            <p:cNvSpPr txBox="1"/>
            <p:nvPr/>
          </p:nvSpPr>
          <p:spPr>
            <a:xfrm>
              <a:off x="2968100" y="2109419"/>
              <a:ext cx="13597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376794-D79B-0374-87D1-4D1A43736664}"/>
                </a:ext>
              </a:extLst>
            </p:cNvPr>
            <p:cNvSpPr txBox="1"/>
            <p:nvPr/>
          </p:nvSpPr>
          <p:spPr>
            <a:xfrm>
              <a:off x="4908434" y="2075161"/>
              <a:ext cx="1249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L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640B681E-6F54-1EA8-FE1F-29E666070794}"/>
                </a:ext>
              </a:extLst>
            </p:cNvPr>
            <p:cNvSpPr/>
            <p:nvPr/>
          </p:nvSpPr>
          <p:spPr>
            <a:xfrm>
              <a:off x="644159" y="2155041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629E8217-E461-D6F6-918B-1589B88F4692}"/>
                </a:ext>
              </a:extLst>
            </p:cNvPr>
            <p:cNvSpPr/>
            <p:nvPr/>
          </p:nvSpPr>
          <p:spPr>
            <a:xfrm>
              <a:off x="2355529" y="2179583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29872CF-A6DC-2156-06B3-486A317F8967}"/>
                </a:ext>
              </a:extLst>
            </p:cNvPr>
            <p:cNvSpPr/>
            <p:nvPr/>
          </p:nvSpPr>
          <p:spPr>
            <a:xfrm>
              <a:off x="6012941" y="2152825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770BAB3-AF6E-C41C-B842-5BCCC6C141E0}"/>
                </a:ext>
              </a:extLst>
            </p:cNvPr>
            <p:cNvSpPr txBox="1"/>
            <p:nvPr/>
          </p:nvSpPr>
          <p:spPr>
            <a:xfrm>
              <a:off x="6729756" y="1911719"/>
              <a:ext cx="43473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000" dirty="0"/>
                <a:t>Ŷ</a:t>
              </a:r>
              <a:endParaRPr lang="en-CA" sz="1200" dirty="0"/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FB4414DD-C500-F81A-93C7-D6871DC6DA7B}"/>
                </a:ext>
              </a:extLst>
            </p:cNvPr>
            <p:cNvSpPr/>
            <p:nvPr/>
          </p:nvSpPr>
          <p:spPr>
            <a:xfrm>
              <a:off x="4144944" y="2157798"/>
              <a:ext cx="716815" cy="288109"/>
            </a:xfrm>
            <a:prstGeom prst="rightArrow">
              <a:avLst/>
            </a:prstGeom>
            <a:solidFill>
              <a:schemeClr val="bg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971F75-CD97-50C7-BC82-7C486A0DF1C4}"/>
                </a:ext>
              </a:extLst>
            </p:cNvPr>
            <p:cNvSpPr txBox="1"/>
            <p:nvPr/>
          </p:nvSpPr>
          <p:spPr>
            <a:xfrm>
              <a:off x="4861759" y="20679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...</a:t>
              </a:r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FAEFC8A-9AC9-0967-755D-C9754DBCE681}"/>
              </a:ext>
            </a:extLst>
          </p:cNvPr>
          <p:cNvSpPr/>
          <p:nvPr/>
        </p:nvSpPr>
        <p:spPr>
          <a:xfrm>
            <a:off x="7202876" y="2312815"/>
            <a:ext cx="716815" cy="288109"/>
          </a:xfrm>
          <a:prstGeom prst="rightArrow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8B8605-0A54-F0D8-210A-89E8899FD3A4}"/>
              </a:ext>
            </a:extLst>
          </p:cNvPr>
          <p:cNvSpPr txBox="1"/>
          <p:nvPr/>
        </p:nvSpPr>
        <p:spPr>
          <a:xfrm>
            <a:off x="7795358" y="2256814"/>
            <a:ext cx="1022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   </a:t>
            </a:r>
            <a:r>
              <a:rPr lang="en-CA" sz="2000" b="1" dirty="0">
                <a:solidFill>
                  <a:schemeClr val="accent1"/>
                </a:solidFill>
              </a:rPr>
              <a:t>Loss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BE2A7-29F6-F23C-96AA-09A2927AF2C9}"/>
              </a:ext>
            </a:extLst>
          </p:cNvPr>
          <p:cNvSpPr txBox="1"/>
          <p:nvPr/>
        </p:nvSpPr>
        <p:spPr>
          <a:xfrm>
            <a:off x="275770" y="1817443"/>
            <a:ext cx="96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Forward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78E3378-FE05-0A74-4783-FE5872FE5379}"/>
              </a:ext>
            </a:extLst>
          </p:cNvPr>
          <p:cNvGrpSpPr/>
          <p:nvPr/>
        </p:nvGrpSpPr>
        <p:grpSpPr>
          <a:xfrm>
            <a:off x="257361" y="3708571"/>
            <a:ext cx="6622707" cy="601471"/>
            <a:chOff x="291780" y="1911719"/>
            <a:chExt cx="6622707" cy="60147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8621D4-295E-59F8-49F5-AD7BB7B868C4}"/>
                </a:ext>
              </a:extLst>
            </p:cNvPr>
            <p:cNvSpPr txBox="1"/>
            <p:nvPr/>
          </p:nvSpPr>
          <p:spPr>
            <a:xfrm>
              <a:off x="291780" y="2082972"/>
              <a:ext cx="4778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X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BA2BD4-F7E7-01E4-ADAB-D446F8F1C1B7}"/>
                </a:ext>
              </a:extLst>
            </p:cNvPr>
            <p:cNvSpPr txBox="1"/>
            <p:nvPr/>
          </p:nvSpPr>
          <p:spPr>
            <a:xfrm>
              <a:off x="1223150" y="2113080"/>
              <a:ext cx="1249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D4A88F-B654-9803-A524-0677C1243E03}"/>
                </a:ext>
              </a:extLst>
            </p:cNvPr>
            <p:cNvSpPr txBox="1"/>
            <p:nvPr/>
          </p:nvSpPr>
          <p:spPr>
            <a:xfrm>
              <a:off x="2968100" y="2109419"/>
              <a:ext cx="13597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48B916-E221-878C-16C2-E4F7DA125CE5}"/>
                </a:ext>
              </a:extLst>
            </p:cNvPr>
            <p:cNvSpPr txBox="1"/>
            <p:nvPr/>
          </p:nvSpPr>
          <p:spPr>
            <a:xfrm>
              <a:off x="4908434" y="2075161"/>
              <a:ext cx="12494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/>
                <a:t>   Layer L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BAC543-87E5-A102-C622-3CC07E6C7FA8}"/>
                </a:ext>
              </a:extLst>
            </p:cNvPr>
            <p:cNvSpPr txBox="1"/>
            <p:nvPr/>
          </p:nvSpPr>
          <p:spPr>
            <a:xfrm>
              <a:off x="6729756" y="1911719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A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3905005-EB48-BEDE-B860-7A9654C1A80A}"/>
                </a:ext>
              </a:extLst>
            </p:cNvPr>
            <p:cNvSpPr txBox="1"/>
            <p:nvPr/>
          </p:nvSpPr>
          <p:spPr>
            <a:xfrm>
              <a:off x="4861759" y="2067941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...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3994EFE-F8B1-AD46-0194-14D1D8803D67}"/>
              </a:ext>
            </a:extLst>
          </p:cNvPr>
          <p:cNvSpPr txBox="1"/>
          <p:nvPr/>
        </p:nvSpPr>
        <p:spPr>
          <a:xfrm>
            <a:off x="7387966" y="3817026"/>
            <a:ext cx="1424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   </a:t>
            </a:r>
            <a:r>
              <a:rPr lang="en-CA" sz="2000" b="1" dirty="0" err="1">
                <a:solidFill>
                  <a:schemeClr val="accent1"/>
                </a:solidFill>
              </a:rPr>
              <a:t>dLoss</a:t>
            </a:r>
            <a:r>
              <a:rPr lang="en-CA" sz="2000" b="1" dirty="0">
                <a:solidFill>
                  <a:schemeClr val="accent1"/>
                </a:solidFill>
              </a:rPr>
              <a:t>/</a:t>
            </a:r>
            <a:r>
              <a:rPr lang="en-CA" sz="2000" dirty="0">
                <a:solidFill>
                  <a:schemeClr val="accent1"/>
                </a:solidFill>
              </a:rPr>
              <a:t> </a:t>
            </a:r>
            <a:r>
              <a:rPr lang="en-CA" sz="2000" b="1" dirty="0" err="1">
                <a:solidFill>
                  <a:schemeClr val="accent1"/>
                </a:solidFill>
              </a:rPr>
              <a:t>dŷ</a:t>
            </a:r>
            <a:endParaRPr lang="en-CA" sz="2000" b="1" dirty="0">
              <a:solidFill>
                <a:schemeClr val="accen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CED154-43DB-416C-8C13-1516854DD1EC}"/>
              </a:ext>
            </a:extLst>
          </p:cNvPr>
          <p:cNvSpPr txBox="1"/>
          <p:nvPr/>
        </p:nvSpPr>
        <p:spPr>
          <a:xfrm>
            <a:off x="257361" y="3440452"/>
            <a:ext cx="109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Backward</a:t>
            </a:r>
          </a:p>
        </p:txBody>
      </p:sp>
      <p:sp>
        <p:nvSpPr>
          <p:cNvPr id="45" name="Arrow: Left 44">
            <a:extLst>
              <a:ext uri="{FF2B5EF4-FFF2-40B4-BE49-F238E27FC236}">
                <a16:creationId xmlns:a16="http://schemas.microsoft.com/office/drawing/2014/main" id="{0B5F0958-07CA-BC0D-764E-1193FE9281E1}"/>
              </a:ext>
            </a:extLst>
          </p:cNvPr>
          <p:cNvSpPr/>
          <p:nvPr/>
        </p:nvSpPr>
        <p:spPr>
          <a:xfrm>
            <a:off x="594137" y="3935557"/>
            <a:ext cx="716815" cy="335433"/>
          </a:xfrm>
          <a:prstGeom prst="leftArrow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E3627D28-EDB7-BC46-153B-3EFC1DC62ED0}"/>
              </a:ext>
            </a:extLst>
          </p:cNvPr>
          <p:cNvSpPr/>
          <p:nvPr/>
        </p:nvSpPr>
        <p:spPr>
          <a:xfrm>
            <a:off x="2333723" y="3936690"/>
            <a:ext cx="716815" cy="335433"/>
          </a:xfrm>
          <a:prstGeom prst="leftArrow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Arrow: Left 46">
            <a:extLst>
              <a:ext uri="{FF2B5EF4-FFF2-40B4-BE49-F238E27FC236}">
                <a16:creationId xmlns:a16="http://schemas.microsoft.com/office/drawing/2014/main" id="{7A0B3CD8-EB56-A055-8DBD-09C69826E51B}"/>
              </a:ext>
            </a:extLst>
          </p:cNvPr>
          <p:cNvSpPr/>
          <p:nvPr/>
        </p:nvSpPr>
        <p:spPr>
          <a:xfrm>
            <a:off x="4073309" y="3936756"/>
            <a:ext cx="716815" cy="335433"/>
          </a:xfrm>
          <a:prstGeom prst="leftArrow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EFF9B66B-8146-B92E-04CB-FCDBD0D29D3C}"/>
              </a:ext>
            </a:extLst>
          </p:cNvPr>
          <p:cNvSpPr/>
          <p:nvPr/>
        </p:nvSpPr>
        <p:spPr>
          <a:xfrm>
            <a:off x="6015560" y="3881742"/>
            <a:ext cx="716815" cy="335433"/>
          </a:xfrm>
          <a:prstGeom prst="leftArrow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46C973-F7A3-20F9-0329-366BB4277A96}"/>
              </a:ext>
            </a:extLst>
          </p:cNvPr>
          <p:cNvSpPr txBox="1"/>
          <p:nvPr/>
        </p:nvSpPr>
        <p:spPr>
          <a:xfrm>
            <a:off x="1796503" y="4406529"/>
            <a:ext cx="449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computes gradients layer by layer, update </a:t>
            </a:r>
            <a:r>
              <a:rPr lang="en-CA" dirty="0" err="1"/>
              <a:t>W,b</a:t>
            </a:r>
            <a:endParaRPr lang="en-CA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A13C4D-4A10-61F6-C4D6-74FC4DE7AB4D}"/>
              </a:ext>
            </a:extLst>
          </p:cNvPr>
          <p:cNvSpPr txBox="1"/>
          <p:nvPr/>
        </p:nvSpPr>
        <p:spPr>
          <a:xfrm>
            <a:off x="328112" y="4997628"/>
            <a:ext cx="7273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Errors flow backward from the output to earlier layers and each layer learns</a:t>
            </a:r>
          </a:p>
          <a:p>
            <a:r>
              <a:rPr lang="en-CA" dirty="0"/>
              <a:t>how to adjust its weights to reduce the loss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7D6A4F-8104-A747-6851-530098D3A96D}"/>
              </a:ext>
            </a:extLst>
          </p:cNvPr>
          <p:cNvSpPr txBox="1"/>
          <p:nvPr/>
        </p:nvSpPr>
        <p:spPr>
          <a:xfrm>
            <a:off x="258724" y="1193639"/>
            <a:ext cx="8368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For each batch of training data, it does a </a:t>
            </a:r>
            <a:r>
              <a:rPr lang="en-CA" b="1" dirty="0"/>
              <a:t>forward pass</a:t>
            </a:r>
            <a:r>
              <a:rPr lang="en-CA" dirty="0">
                <a:solidFill>
                  <a:schemeClr val="accent1"/>
                </a:solidFill>
              </a:rPr>
              <a:t> </a:t>
            </a:r>
            <a:r>
              <a:rPr lang="en-CA" dirty="0"/>
              <a:t>to compute predictions ŷ then it </a:t>
            </a:r>
          </a:p>
          <a:p>
            <a:r>
              <a:rPr lang="en-CA" dirty="0"/>
              <a:t>computes the </a:t>
            </a:r>
            <a:r>
              <a:rPr lang="en-CA" b="1" dirty="0"/>
              <a:t>loss</a:t>
            </a:r>
            <a:r>
              <a:rPr lang="en-CA" dirty="0"/>
              <a:t> L. The weights and biases are initialized randomly.</a:t>
            </a:r>
          </a:p>
          <a:p>
            <a:endParaRPr lang="en-CA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420C7C-B290-5E81-F35F-15A5CD5D7291}"/>
              </a:ext>
            </a:extLst>
          </p:cNvPr>
          <p:cNvSpPr txBox="1"/>
          <p:nvPr/>
        </p:nvSpPr>
        <p:spPr>
          <a:xfrm>
            <a:off x="257361" y="2799194"/>
            <a:ext cx="75750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Uses </a:t>
            </a:r>
            <a:r>
              <a:rPr lang="en-CA" b="1" dirty="0"/>
              <a:t>backpropagation</a:t>
            </a:r>
            <a:r>
              <a:rPr lang="en-CA" dirty="0"/>
              <a:t> to compute gradients and updates parameters using an </a:t>
            </a:r>
          </a:p>
          <a:p>
            <a:r>
              <a:rPr lang="en-CA" b="1" dirty="0"/>
              <a:t>optimizer</a:t>
            </a:r>
            <a:r>
              <a:rPr lang="en-CA" dirty="0"/>
              <a:t> (i.e., gradient descent, </a:t>
            </a:r>
            <a:r>
              <a:rPr lang="en-CA" dirty="0" err="1"/>
              <a:t>adam</a:t>
            </a:r>
            <a:r>
              <a:rPr lang="en-CA" dirty="0"/>
              <a:t>).</a:t>
            </a:r>
          </a:p>
          <a:p>
            <a:endParaRPr lang="en-CA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09832F2-D62C-9822-E83E-E6425C80519C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9C4FBB2-3DC3-1F81-8067-043D8F4C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Weights Initialization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E97176B-8BF1-C643-428A-C30E4DA8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300" y="6333184"/>
            <a:ext cx="3428999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D446876-92BB-C5A9-A1CC-78BA0857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52EE7-A5CE-41C3-2544-1F4689808EB7}"/>
              </a:ext>
            </a:extLst>
          </p:cNvPr>
          <p:cNvSpPr txBox="1"/>
          <p:nvPr/>
        </p:nvSpPr>
        <p:spPr>
          <a:xfrm>
            <a:off x="466390" y="1025058"/>
            <a:ext cx="7989623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Before the training begins, every neural network layer needs </a:t>
            </a:r>
            <a:r>
              <a:rPr lang="en-CA" b="1" dirty="0"/>
              <a:t>initial weights</a:t>
            </a:r>
            <a:r>
              <a:rPr lang="en-CA" dirty="0"/>
              <a:t>. </a:t>
            </a:r>
          </a:p>
          <a:p>
            <a:endParaRPr lang="en-CA" dirty="0"/>
          </a:p>
          <a:p>
            <a:r>
              <a:rPr lang="en-CA" dirty="0"/>
              <a:t>These weights determine how the network behaves at the very first forward pass.</a:t>
            </a:r>
          </a:p>
          <a:p>
            <a:endParaRPr lang="en-CA" dirty="0"/>
          </a:p>
          <a:p>
            <a:r>
              <a:rPr lang="en-CA" dirty="0"/>
              <a:t>Why initialization matters:</a:t>
            </a:r>
          </a:p>
          <a:p>
            <a:r>
              <a:rPr lang="en-CA" dirty="0"/>
              <a:t>- It affects how signals flow through the network</a:t>
            </a:r>
          </a:p>
          <a:p>
            <a:pPr lvl="0"/>
            <a:r>
              <a:rPr lang="en-CA" dirty="0"/>
              <a:t>- It affects how gradients flow backward</a:t>
            </a:r>
          </a:p>
          <a:p>
            <a:pPr lvl="0"/>
            <a:r>
              <a:rPr lang="en-CA" dirty="0"/>
              <a:t>- Good initialization → stable learning</a:t>
            </a:r>
          </a:p>
          <a:p>
            <a:pPr lvl="0"/>
            <a:r>
              <a:rPr lang="en-CA" dirty="0"/>
              <a:t>- Bad initialization → exploding/vanishing gradients, slow training, or poor accuracy</a:t>
            </a:r>
          </a:p>
          <a:p>
            <a:endParaRPr lang="en-CA" dirty="0"/>
          </a:p>
          <a:p>
            <a:r>
              <a:rPr lang="en-CA" dirty="0"/>
              <a:t>Initialization is not just a detail — it’s a </a:t>
            </a:r>
            <a:r>
              <a:rPr lang="en-CA" b="1" dirty="0"/>
              <a:t>critical part of deep learning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There are 2 major initialization strategies:</a:t>
            </a:r>
          </a:p>
          <a:p>
            <a:endParaRPr lang="en-CA" b="1" dirty="0"/>
          </a:p>
          <a:p>
            <a:r>
              <a:rPr lang="en-CA" b="1" dirty="0" err="1"/>
              <a:t>Glorot</a:t>
            </a:r>
            <a:r>
              <a:rPr lang="en-CA" b="1" dirty="0"/>
              <a:t> Uniform</a:t>
            </a:r>
            <a:r>
              <a:rPr lang="en-CA" dirty="0"/>
              <a:t> (Xavier Uniform) - default initializer in </a:t>
            </a:r>
            <a:r>
              <a:rPr lang="en-CA" dirty="0" err="1"/>
              <a:t>Keras</a:t>
            </a:r>
            <a:endParaRPr lang="en-CA" dirty="0"/>
          </a:p>
          <a:p>
            <a:endParaRPr lang="en-CA" dirty="0"/>
          </a:p>
          <a:p>
            <a:r>
              <a:rPr lang="en-CA" b="1" dirty="0"/>
              <a:t>He</a:t>
            </a:r>
            <a:r>
              <a:rPr lang="en-CA" dirty="0"/>
              <a:t> Initialization (He Normal / He Uniform) - </a:t>
            </a:r>
            <a:r>
              <a:rPr lang="en-CA" b="1" dirty="0" err="1"/>
              <a:t>ReLU</a:t>
            </a:r>
            <a:r>
              <a:rPr lang="en-CA" dirty="0"/>
              <a:t> and its variants</a:t>
            </a:r>
          </a:p>
          <a:p>
            <a:endParaRPr lang="en-CA" dirty="0"/>
          </a:p>
          <a:p>
            <a:endParaRPr lang="en-CA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C27B07-C8FC-C717-7911-8399A09A8B6F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33C6ACA-CB89-E704-D1FC-56FBD766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Weights Initialization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F0175-1643-EDA0-AB99-4836657B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515" y="6356350"/>
            <a:ext cx="3428999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2208D-E450-22F4-C8F4-0EB17496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F5A7C9-FC3F-2852-C5A5-94A173806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92" y="1507972"/>
            <a:ext cx="3873065" cy="16181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B974DD-3102-33B5-E207-312E7C945830}"/>
              </a:ext>
            </a:extLst>
          </p:cNvPr>
          <p:cNvSpPr txBox="1"/>
          <p:nvPr/>
        </p:nvSpPr>
        <p:spPr>
          <a:xfrm>
            <a:off x="264528" y="1008531"/>
            <a:ext cx="291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Default initialization (</a:t>
            </a:r>
            <a:r>
              <a:rPr lang="en-CA" dirty="0" err="1"/>
              <a:t>Glorot</a:t>
            </a:r>
            <a:r>
              <a:rPr lang="en-CA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29B9A-96D7-94C7-4C0F-9FD65BBF750E}"/>
              </a:ext>
            </a:extLst>
          </p:cNvPr>
          <p:cNvSpPr txBox="1"/>
          <p:nvPr/>
        </p:nvSpPr>
        <p:spPr>
          <a:xfrm>
            <a:off x="4409961" y="1015452"/>
            <a:ext cx="1645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 Initialization</a:t>
            </a:r>
          </a:p>
          <a:p>
            <a:endParaRPr lang="en-C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8BDE7C-4C05-C153-B61F-D9595F91C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872" y="1475074"/>
            <a:ext cx="4276365" cy="220254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F11D090-1E18-655B-2DAD-89079934B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80" y="3917369"/>
            <a:ext cx="8377008" cy="7675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C572479-A9AE-74F7-66AD-AA8589D5F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763" y="5109578"/>
            <a:ext cx="8381157" cy="767266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AF93F7-45FA-556F-918A-43CB5424B62B}"/>
              </a:ext>
            </a:extLst>
          </p:cNvPr>
          <p:cNvCxnSpPr/>
          <p:nvPr/>
        </p:nvCxnSpPr>
        <p:spPr>
          <a:xfrm>
            <a:off x="1939079" y="3198103"/>
            <a:ext cx="0" cy="66167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6EF281-20E5-A4F4-E331-DECC36189851}"/>
              </a:ext>
            </a:extLst>
          </p:cNvPr>
          <p:cNvCxnSpPr/>
          <p:nvPr/>
        </p:nvCxnSpPr>
        <p:spPr>
          <a:xfrm>
            <a:off x="6290521" y="3677616"/>
            <a:ext cx="0" cy="139523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4ECDD35-635F-FE39-07A3-2987B902FFF9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52DC1D4-8F26-0973-0861-34B981F6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Weights Initialization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EBC0ACD-CB2A-C276-3B00-5CAD54867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767" y="6333184"/>
            <a:ext cx="3268133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CDF17A0-BFFF-53FF-9C55-C31B983F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62B154-B798-AB04-B693-253AB6DC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71" y="1075427"/>
            <a:ext cx="4338403" cy="2825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79C626-68E2-69C2-2BB3-1C8B7AF46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474" y="1029477"/>
            <a:ext cx="4356847" cy="28716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71CDE0-7D6B-B288-C3F0-FB7A8CA616A7}"/>
              </a:ext>
            </a:extLst>
          </p:cNvPr>
          <p:cNvSpPr txBox="1"/>
          <p:nvPr/>
        </p:nvSpPr>
        <p:spPr>
          <a:xfrm>
            <a:off x="457200" y="4165601"/>
            <a:ext cx="822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CA" dirty="0"/>
              <a:t>Weight initialization has a </a:t>
            </a:r>
            <a:r>
              <a:rPr lang="en-CA" b="1" dirty="0"/>
              <a:t>significant impact</a:t>
            </a:r>
            <a:r>
              <a:rPr lang="en-CA" dirty="0"/>
              <a:t> on training dynamics.</a:t>
            </a:r>
          </a:p>
          <a:p>
            <a:pPr lvl="0"/>
            <a:r>
              <a:rPr lang="en-CA" b="1" dirty="0"/>
              <a:t>He initialization is better suited for </a:t>
            </a:r>
            <a:r>
              <a:rPr lang="en-CA" b="1" dirty="0" err="1"/>
              <a:t>ReLU</a:t>
            </a:r>
            <a:r>
              <a:rPr lang="en-CA" dirty="0"/>
              <a:t>, leading to:</a:t>
            </a:r>
          </a:p>
          <a:p>
            <a:pPr lvl="1"/>
            <a:r>
              <a:rPr lang="en-CA" dirty="0"/>
              <a:t>Faster convergence</a:t>
            </a:r>
          </a:p>
          <a:p>
            <a:pPr lvl="1"/>
            <a:r>
              <a:rPr lang="en-CA" dirty="0"/>
              <a:t>Lower validation loss</a:t>
            </a:r>
          </a:p>
          <a:p>
            <a:pPr lvl="1"/>
            <a:r>
              <a:rPr lang="en-CA" dirty="0"/>
              <a:t>Better generalization</a:t>
            </a:r>
          </a:p>
          <a:p>
            <a:pPr lvl="0"/>
            <a:r>
              <a:rPr lang="en-CA" dirty="0" err="1"/>
              <a:t>Glorot</a:t>
            </a:r>
            <a:r>
              <a:rPr lang="en-CA" dirty="0"/>
              <a:t> still performs well, however is not optimal for </a:t>
            </a:r>
            <a:r>
              <a:rPr lang="en-CA" dirty="0" err="1"/>
              <a:t>ReLU</a:t>
            </a:r>
            <a:r>
              <a:rPr lang="en-CA" dirty="0"/>
              <a:t>‑based networks.</a:t>
            </a:r>
          </a:p>
          <a:p>
            <a:endParaRPr lang="en-CA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32F397-F43A-732F-E3CF-D250067F7768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7C9D44-D779-4B80-1A31-59E3EEF4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EARLY STOPPING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2FE5A3-BDE2-2E09-B32E-B88633BF5606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C2A2C1D-CE92-6B12-2B99-DFC2EF141681}"/>
              </a:ext>
            </a:extLst>
          </p:cNvPr>
          <p:cNvSpPr txBox="1"/>
          <p:nvPr/>
        </p:nvSpPr>
        <p:spPr>
          <a:xfrm>
            <a:off x="254000" y="1007533"/>
            <a:ext cx="850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Early Stopping is a training technique where the model </a:t>
            </a:r>
            <a:r>
              <a:rPr lang="en-CA" b="1" dirty="0"/>
              <a:t>stops training automatically when it stops improving on the validation set</a:t>
            </a:r>
            <a:r>
              <a:rPr lang="en-CA" dirty="0"/>
              <a:t>, ensuring we get the best weights without wasting time or overfitting. </a:t>
            </a:r>
          </a:p>
          <a:p>
            <a:r>
              <a:rPr lang="en-CA" dirty="0"/>
              <a:t>Automatically finds the best epoch. </a:t>
            </a:r>
          </a:p>
          <a:p>
            <a:endParaRPr lang="en-CA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D3809E-36AB-DAA9-B15A-A56D3ACF4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63" y="1840681"/>
            <a:ext cx="4896274" cy="4218036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0886A12-0BE8-5D27-3473-13340263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364" y="6333184"/>
            <a:ext cx="5004665" cy="365125"/>
          </a:xfrm>
        </p:spPr>
        <p:txBody>
          <a:bodyPr/>
          <a:lstStyle/>
          <a:p>
            <a:r>
              <a:rPr lang="en-US"/>
              <a:t>3253 - Analytic Techniques and Machine Learning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E3D91D9-2BA1-54E0-2775-5CD5E6AB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829" y="6248401"/>
            <a:ext cx="57316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308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4076D8-68B0-9647-4CBB-D1AB2F055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 err="1"/>
              <a:t>EArLY</a:t>
            </a:r>
            <a:r>
              <a:rPr lang="en-CA" sz="2800" dirty="0"/>
              <a:t> STOPPING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2A3D4A-9646-DAF2-30B2-3452EA0E9FCC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A26F6D4-9B2D-4364-373B-36F0A2A6B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63" y="3025267"/>
            <a:ext cx="4781964" cy="63322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293DE-A7E4-2E87-84B5-3EF718FC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691" y="6365876"/>
            <a:ext cx="5223606" cy="365125"/>
          </a:xfrm>
        </p:spPr>
        <p:txBody>
          <a:bodyPr/>
          <a:lstStyle/>
          <a:p>
            <a:r>
              <a:rPr lang="en-US" dirty="0"/>
              <a:t>3253 - Analytic Techniques and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C1A32-DAD5-B457-61E3-20EEEC06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2666" y="6362819"/>
            <a:ext cx="351837" cy="305856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00484A-9176-51DC-8360-A144EB7F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63" y="1054966"/>
            <a:ext cx="4781964" cy="19051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6D26A9-6EE1-13E1-3805-B9DE76D1A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63" y="3751035"/>
            <a:ext cx="4781964" cy="174071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2E1C938-4E74-862F-C82F-05DDA217CAE7}"/>
              </a:ext>
            </a:extLst>
          </p:cNvPr>
          <p:cNvCxnSpPr/>
          <p:nvPr/>
        </p:nvCxnSpPr>
        <p:spPr>
          <a:xfrm>
            <a:off x="224163" y="37100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0F90D70-1D66-9239-F03F-52AA1FD11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63" y="5615946"/>
            <a:ext cx="6839543" cy="5143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8D13386-CC5D-01C1-647A-88D11996211D}"/>
              </a:ext>
            </a:extLst>
          </p:cNvPr>
          <p:cNvSpPr txBox="1"/>
          <p:nvPr/>
        </p:nvSpPr>
        <p:spPr>
          <a:xfrm>
            <a:off x="5006127" y="1829683"/>
            <a:ext cx="4069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Executes 50 epochs despite reaching a </a:t>
            </a:r>
          </a:p>
          <a:p>
            <a:r>
              <a:rPr lang="en-CA" dirty="0"/>
              <a:t>plateau which in indication that the model </a:t>
            </a:r>
          </a:p>
          <a:p>
            <a:r>
              <a:rPr lang="en-CA" dirty="0"/>
              <a:t>does not ‘learn’ anymore.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AF7C10-2121-BE24-B246-2CE5D5B0533F}"/>
              </a:ext>
            </a:extLst>
          </p:cNvPr>
          <p:cNvSpPr txBox="1"/>
          <p:nvPr/>
        </p:nvSpPr>
        <p:spPr>
          <a:xfrm>
            <a:off x="5006127" y="3998325"/>
            <a:ext cx="40395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Stops after 29 epochs which in indication </a:t>
            </a:r>
          </a:p>
          <a:p>
            <a:r>
              <a:rPr lang="en-CA" dirty="0"/>
              <a:t>that the model needed only 29 epochs to </a:t>
            </a:r>
          </a:p>
          <a:p>
            <a:r>
              <a:rPr lang="en-CA" dirty="0"/>
              <a:t>‘learn’.</a:t>
            </a:r>
          </a:p>
        </p:txBody>
      </p:sp>
    </p:spTree>
    <p:extLst>
      <p:ext uri="{BB962C8B-B14F-4D97-AF65-F5344CB8AC3E}">
        <p14:creationId xmlns:p14="http://schemas.microsoft.com/office/powerpoint/2010/main" val="296694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61D2F2F-0598-EC6B-A561-74CE7939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0" y="342253"/>
            <a:ext cx="8229600" cy="511102"/>
          </a:xfrm>
        </p:spPr>
        <p:txBody>
          <a:bodyPr>
            <a:noAutofit/>
          </a:bodyPr>
          <a:lstStyle/>
          <a:p>
            <a:r>
              <a:rPr lang="en-CA" sz="2800" dirty="0"/>
              <a:t>EARLY STOPPING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698072-657F-7C3A-526D-AE6A630E8DCA}"/>
              </a:ext>
            </a:extLst>
          </p:cNvPr>
          <p:cNvCxnSpPr/>
          <p:nvPr/>
        </p:nvCxnSpPr>
        <p:spPr>
          <a:xfrm>
            <a:off x="374490" y="954160"/>
            <a:ext cx="8277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5F28E-0C59-8EFE-67A4-91330C94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0297" y="6150622"/>
            <a:ext cx="5004665" cy="365125"/>
          </a:xfrm>
        </p:spPr>
        <p:txBody>
          <a:bodyPr/>
          <a:lstStyle/>
          <a:p>
            <a:r>
              <a:rPr lang="en-US"/>
              <a:t>3253 - Analytic Techniques and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0749C-8EC6-A4AE-23E3-F43620B7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0475" y="6150622"/>
            <a:ext cx="573161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515C6-4D8E-C575-B663-1676CC90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32" y="1100773"/>
            <a:ext cx="4126957" cy="2696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BBC61-9F4A-0410-F9DF-DA722ACF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062" y="1054966"/>
            <a:ext cx="4160928" cy="27468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71C33A-D96F-B51D-2071-8DF088D5933C}"/>
              </a:ext>
            </a:extLst>
          </p:cNvPr>
          <p:cNvSpPr txBox="1"/>
          <p:nvPr/>
        </p:nvSpPr>
        <p:spPr>
          <a:xfrm>
            <a:off x="243257" y="4003446"/>
            <a:ext cx="53431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 final </a:t>
            </a:r>
            <a:r>
              <a:rPr lang="en-US" dirty="0" err="1"/>
              <a:t>val_loss</a:t>
            </a:r>
            <a:r>
              <a:rPr lang="en-US" dirty="0"/>
              <a:t>: 0.03383053466677666 </a:t>
            </a:r>
          </a:p>
          <a:p>
            <a:r>
              <a:rPr lang="en-US" dirty="0" err="1"/>
              <a:t>EarlyStopping</a:t>
            </a:r>
            <a:r>
              <a:rPr lang="en-US" dirty="0"/>
              <a:t> best </a:t>
            </a:r>
            <a:r>
              <a:rPr lang="en-US" dirty="0" err="1"/>
              <a:t>val_loss</a:t>
            </a:r>
            <a:r>
              <a:rPr lang="en-US" dirty="0"/>
              <a:t>: 0.032020073384046555 </a:t>
            </a:r>
          </a:p>
          <a:p>
            <a:r>
              <a:rPr lang="en-US" dirty="0" err="1"/>
              <a:t>EarlyStopping</a:t>
            </a:r>
            <a:r>
              <a:rPr lang="en-US" dirty="0"/>
              <a:t> stopped at epoch: 29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7232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8A0410-76AC-FFB5-96CF-DBDED51D5363}"/>
              </a:ext>
            </a:extLst>
          </p:cNvPr>
          <p:cNvSpPr txBox="1"/>
          <p:nvPr/>
        </p:nvSpPr>
        <p:spPr>
          <a:xfrm>
            <a:off x="3268134" y="2702467"/>
            <a:ext cx="2353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The End</a:t>
            </a:r>
            <a:endParaRPr lang="en-CA" sz="5400" dirty="0"/>
          </a:p>
        </p:txBody>
      </p:sp>
    </p:spTree>
    <p:extLst>
      <p:ext uri="{BB962C8B-B14F-4D97-AF65-F5344CB8AC3E}">
        <p14:creationId xmlns:p14="http://schemas.microsoft.com/office/powerpoint/2010/main" val="250558007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177</TotalTime>
  <Words>1049</Words>
  <Application>Microsoft Office PowerPoint</Application>
  <PresentationFormat>On-screen Show (4:3)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Tw Cen MT</vt:lpstr>
      <vt:lpstr>Droplet</vt:lpstr>
      <vt:lpstr>Training and Optimizing Deep Neural Networks</vt:lpstr>
      <vt:lpstr>Overview of Deep Neural Networks</vt:lpstr>
      <vt:lpstr>Overview of Deep Neural Networks</vt:lpstr>
      <vt:lpstr>Activation Functions</vt:lpstr>
      <vt:lpstr>DNN Architecture - Layers</vt:lpstr>
      <vt:lpstr>DNN Architecture – Layers - Forward pass</vt:lpstr>
      <vt:lpstr>DNN Architecture – Layers – Back propagation</vt:lpstr>
      <vt:lpstr>Weights Initialization </vt:lpstr>
      <vt:lpstr>Weights Initialization</vt:lpstr>
      <vt:lpstr>Weights Initialization</vt:lpstr>
      <vt:lpstr>EARLY STOPPING</vt:lpstr>
      <vt:lpstr>EArLY STOPPING</vt:lpstr>
      <vt:lpstr>EARLY STOPPING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victor.rusu.toronto@outlook.com</cp:lastModifiedBy>
  <cp:revision>23</cp:revision>
  <dcterms:created xsi:type="dcterms:W3CDTF">2013-01-27T09:14:16Z</dcterms:created>
  <dcterms:modified xsi:type="dcterms:W3CDTF">2026-03-30T17:57:28Z</dcterms:modified>
  <cp:category/>
</cp:coreProperties>
</file>